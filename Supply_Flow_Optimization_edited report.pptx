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69680" y="457200"/>
            <a:ext cx="2011680" cy="2011680"/>
          </a:xfrm>
          <a:prstGeom prst="ellipse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1828800"/>
            <a:ext cx="1097280" cy="1097280"/>
          </a:xfrm>
          <a:prstGeom prst="ellipse">
            <a:avLst/>
          </a:prstGeom>
          <a:solidFill>
            <a:srgbClr val="20A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80" y="4023360"/>
            <a:ext cx="1280160" cy="1280160"/>
          </a:xfrm>
          <a:prstGeom prst="ellipse">
            <a:avLst/>
          </a:prstGeom>
          <a:solidFill>
            <a:srgbClr val="7E5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07040" y="4572000"/>
            <a:ext cx="640080" cy="640080"/>
          </a:xfrm>
          <a:prstGeom prst="ellipse">
            <a:avLst/>
          </a:prstGeom>
          <a:solidFill>
            <a:srgbClr val="EC9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8580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EC6F5"/>
                </a:solidFill>
                <a:latin typeface="Aptos"/>
              </a:defRPr>
            </a:pPr>
            <a:r>
              <a:t>DATA STRUCTURES AND ALGORITHMS-3  |  PBL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7772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SUPPLY FLOW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DAE4F7"/>
                </a:solidFill>
                <a:latin typeface="Aptos"/>
              </a:defRPr>
            </a:pPr>
            <a:r>
              <a:t>A browser-based supply chain dashboard for inventory, orders, delivery routes and demand forecasting.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617720"/>
            <a:ext cx="5303520" cy="777240"/>
          </a:xfrm>
          <a:prstGeom prst="roundRect">
            <a:avLst/>
          </a:prstGeom>
          <a:solidFill>
            <a:srgbClr val="233458"/>
          </a:solidFill>
          <a:ln>
            <a:solidFill>
              <a:srgbClr val="4A5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736592"/>
            <a:ext cx="5029200" cy="53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rPr dirty="0"/>
              <a:t>Student 1: ___________</a:t>
            </a:r>
            <a:r>
              <a:rPr lang="en-US" dirty="0" err="1"/>
              <a:t>v.akshara</a:t>
            </a:r>
            <a:r>
              <a:rPr dirty="0"/>
              <a:t>_________     Roll No:</a:t>
            </a:r>
            <a:r>
              <a:rPr lang="en-US" dirty="0"/>
              <a:t>2520030269</a:t>
            </a:r>
            <a:r>
              <a:rPr dirty="0"/>
              <a:t> __________</a:t>
            </a:r>
          </a:p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rPr dirty="0"/>
              <a:t>Student 2: ____</a:t>
            </a:r>
            <a:r>
              <a:rPr lang="en-US" dirty="0" err="1"/>
              <a:t>B.siri</a:t>
            </a:r>
            <a:r>
              <a:rPr lang="en-US" dirty="0"/>
              <a:t> </a:t>
            </a:r>
            <a:r>
              <a:rPr lang="en-US" dirty="0" err="1"/>
              <a:t>manasa</a:t>
            </a:r>
            <a:r>
              <a:rPr dirty="0"/>
              <a:t>________________     Roll No: ____</a:t>
            </a:r>
            <a:r>
              <a:rPr lang="en-US" dirty="0"/>
              <a:t>2520030563</a:t>
            </a:r>
            <a:r>
              <a:rPr dirty="0"/>
              <a:t>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SupplyFlow Optimizer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53044"/>
                </a:solidFill>
                <a:latin typeface="Aptos"/>
              </a:defRPr>
            </a:pPr>
            <a:r>
              <a:t>•  Supply Flow Optimization helps monitor the movement of goods from inventory to customer delivery.</a:t>
            </a:r>
          </a:p>
          <a:p>
            <a:pPr>
              <a:spcAft>
                <a:spcPts val="1500"/>
              </a:spcAft>
              <a:defRPr sz="1800">
                <a:solidFill>
                  <a:srgbClr val="253044"/>
                </a:solidFill>
                <a:latin typeface="Aptos"/>
              </a:defRPr>
            </a:pPr>
            <a:r>
              <a:t>•  The supplied HTML interface defines seven modules: Dashboard, Inventory, Orders, Customer Portal, Route Optimizer, Demand Forecast, and Reports &amp; Alerts.</a:t>
            </a:r>
          </a:p>
          <a:p>
            <a:pPr>
              <a:spcAft>
                <a:spcPts val="1500"/>
              </a:spcAft>
              <a:defRPr sz="1800">
                <a:solidFill>
                  <a:srgbClr val="253044"/>
                </a:solidFill>
                <a:latin typeface="Aptos"/>
              </a:defRPr>
            </a:pPr>
            <a:r>
              <a:t>•  The dashboard brings stock counts, open orders, low-stock warnings, category summaries, and recent order activity into one workspace.</a:t>
            </a:r>
          </a:p>
          <a:p>
            <a:pPr>
              <a:spcAft>
                <a:spcPts val="1500"/>
              </a:spcAft>
              <a:defRPr sz="1800">
                <a:solidFill>
                  <a:srgbClr val="253044"/>
                </a:solidFill>
                <a:latin typeface="Aptos"/>
              </a:defRPr>
            </a:pPr>
            <a:r>
              <a:t>•  The supplied page describes a demo workspace whose data is saved in the browser.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Why supply flow needs visibility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57800" cy="4389120"/>
          </a:xfrm>
          <a:prstGeom prst="roundRect">
            <a:avLst/>
          </a:prstGeom>
          <a:solidFill>
            <a:srgbClr val="F8FAFE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DC4B52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663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Stock shortages may be noticed late.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Orders, stock and delivery status can be tracked separately.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Delivery sequences may be inefficient.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Demand changes make replenishment decisions difficult.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257800" cy="4389120"/>
          </a:xfrm>
          <a:prstGeom prst="roundRect">
            <a:avLst/>
          </a:prstGeom>
          <a:solidFill>
            <a:srgbClr val="F5FBF9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737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0AEA4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663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Centralize inventory and order monitoring.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Flag products at or below reorder level.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Estimate next-month demand using a moving average.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Suggest a shorter delivery visit sequence.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Provide reports and CSV export options.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Features identified from the supplied HTML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96112" y="1709928"/>
            <a:ext cx="109728" cy="548640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163677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340"/>
                </a:solidFill>
                <a:latin typeface="Aptos"/>
              </a:defRPr>
            </a:pPr>
            <a:r>
              <a:t>01 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98424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9758B"/>
                </a:solidFill>
                <a:latin typeface="Aptos"/>
              </a:defRPr>
            </a:pPr>
            <a:r>
              <a:t>KPIs, category chart, alerts and recent 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0876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19672" y="1709928"/>
            <a:ext cx="109728" cy="548640"/>
          </a:xfrm>
          <a:prstGeom prst="rect">
            <a:avLst/>
          </a:prstGeom>
          <a:solidFill>
            <a:srgbClr val="7E5ED2"/>
          </a:solidFill>
          <a:ln>
            <a:solidFill>
              <a:srgbClr val="7E5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39128" y="163677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340"/>
                </a:solidFill>
                <a:latin typeface="Aptos"/>
              </a:defRPr>
            </a:pPr>
            <a:r>
              <a:t>02  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198424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9758B"/>
                </a:solidFill>
                <a:latin typeface="Aptos"/>
              </a:defRPr>
            </a:pPr>
            <a:r>
              <a:t>Add/search products, filter stock levels, export 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6112" y="2944368"/>
            <a:ext cx="109728" cy="548640"/>
          </a:xfrm>
          <a:prstGeom prst="rect">
            <a:avLst/>
          </a:prstGeom>
          <a:solidFill>
            <a:srgbClr val="EC9A38"/>
          </a:solidFill>
          <a:ln>
            <a:solidFill>
              <a:srgbClr val="EC9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287121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340"/>
                </a:solidFill>
                <a:latin typeface="Aptos"/>
              </a:defRPr>
            </a:pPr>
            <a:r>
              <a:t>03 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21868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9758B"/>
                </a:solidFill>
                <a:latin typeface="Aptos"/>
              </a:defRPr>
            </a:pPr>
            <a:r>
              <a:t>Create staff orders and update order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7432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19672" y="2944368"/>
            <a:ext cx="109728" cy="548640"/>
          </a:xfrm>
          <a:prstGeom prst="rect">
            <a:avLst/>
          </a:prstGeom>
          <a:solidFill>
            <a:srgbClr val="20AEA4"/>
          </a:solidFill>
          <a:ln>
            <a:solidFill>
              <a:srgbClr val="20A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39128" y="287121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340"/>
                </a:solidFill>
                <a:latin typeface="Aptos"/>
              </a:defRPr>
            </a:pPr>
            <a:r>
              <a:t>04  Customer Portal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321868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9758B"/>
                </a:solidFill>
                <a:latin typeface="Aptos"/>
              </a:defRPr>
            </a:pPr>
            <a:r>
              <a:t>Browse products, cart and demo checkout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77639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6112" y="4178807"/>
            <a:ext cx="109728" cy="548640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5568" y="4105655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340"/>
                </a:solidFill>
                <a:latin typeface="Aptos"/>
              </a:defRPr>
            </a:pPr>
            <a:r>
              <a:t>05  Route Optimizer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453127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9758B"/>
                </a:solidFill>
                <a:latin typeface="Aptos"/>
              </a:defRPr>
            </a:pPr>
            <a:r>
              <a:t>Select delivery stops and optimize visit order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977639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19672" y="4178807"/>
            <a:ext cx="109728" cy="548640"/>
          </a:xfrm>
          <a:prstGeom prst="rect">
            <a:avLst/>
          </a:prstGeom>
          <a:solidFill>
            <a:srgbClr val="7E5ED2"/>
          </a:solidFill>
          <a:ln>
            <a:solidFill>
              <a:srgbClr val="7E5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39128" y="4105655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340"/>
                </a:solidFill>
                <a:latin typeface="Aptos"/>
              </a:defRPr>
            </a:pPr>
            <a:r>
              <a:t>06  Demand Forecast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9128" y="4453127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9758B"/>
                </a:solidFill>
                <a:latin typeface="Aptos"/>
              </a:defRPr>
            </a:pPr>
            <a:r>
              <a:t>Three-month moving average and reorder suggestions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21208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96112" y="5413248"/>
            <a:ext cx="109728" cy="548640"/>
          </a:xfrm>
          <a:prstGeom prst="rect">
            <a:avLst/>
          </a:prstGeom>
          <a:solidFill>
            <a:srgbClr val="EC9A38"/>
          </a:solidFill>
          <a:ln>
            <a:solidFill>
              <a:srgbClr val="EC9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15568" y="534009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62340"/>
                </a:solidFill>
                <a:latin typeface="Aptos"/>
              </a:defRPr>
            </a:pPr>
            <a:r>
              <a:t>07  Reports &amp;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56875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9758B"/>
                </a:solidFill>
                <a:latin typeface="Aptos"/>
              </a:defRPr>
            </a:pPr>
            <a:r>
              <a:t>Inventory value, delivered orders and reminders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Algorithm / 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High-level workflow derived from the supplied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START the SupplyFlow application and load demo inventory and orders.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DISPLAY dashboard KPIs, category summary, recent orders and alerts.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WHEN inventory changes, update the product list and check stock against its reorder level.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WHEN an order is placed, validate quantity, calculate total and reduce available stock.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FOR route optimization, use selected stops and the nearest-neighbour heuristic described in the page.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FOR forecasting, calculate the average demand from the latest three months and compare it with current stock.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GENERATE alerts/reports and allow inventory or orders to be exported as CSV.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END / wait for the next user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Route Optimization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Nearest-neighbour heuristic noted in the supplied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5212080" cy="4389120"/>
          </a:xfrm>
          <a:prstGeom prst="roundRect">
            <a:avLst/>
          </a:prstGeom>
          <a:solidFill>
            <a:srgbClr val="F8FAFE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769DC"/>
                </a:solidFill>
                <a:latin typeface="Aptos"/>
              </a:defRPr>
            </a:pPr>
            <a:r>
              <a:t>PSEUDOCODE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044"/>
                </a:solidFill>
                <a:latin typeface="Aptos"/>
              </a:defRPr>
            </a:pPr>
            <a:r>
              <a:t>INPUT: selected delivery stops</a:t>
            </a:r>
          </a:p>
          <a:p>
            <a:pPr>
              <a:spcAft>
                <a:spcPts val="800"/>
              </a:spcAft>
              <a:defRPr sz="1500" b="0">
                <a:solidFill>
                  <a:srgbClr val="253044"/>
                </a:solidFill>
                <a:latin typeface="Aptos"/>
              </a:defRPr>
            </a:pPr>
            <a:r>
              <a:t>SET current_stop = starting location</a:t>
            </a:r>
          </a:p>
          <a:p>
            <a:pPr>
              <a:spcAft>
                <a:spcPts val="800"/>
              </a:spcAft>
              <a:defRPr sz="1500" b="0">
                <a:solidFill>
                  <a:srgbClr val="253044"/>
                </a:solidFill>
                <a:latin typeface="Aptos"/>
              </a:defRPr>
            </a:pPr>
            <a:r>
              <a:t>SET route = [current_stop]</a:t>
            </a:r>
          </a:p>
          <a:p>
            <a:pPr>
              <a:spcAft>
                <a:spcPts val="800"/>
              </a:spcAft>
              <a:defRPr sz="1500" b="0">
                <a:solidFill>
                  <a:srgbClr val="253044"/>
                </a:solidFill>
                <a:latin typeface="Aptos"/>
              </a:defRPr>
            </a:pPr>
            <a:r>
              <a:t>WHILE unvisited stops remain:</a:t>
            </a:r>
          </a:p>
          <a:p>
            <a:pPr>
              <a:spcAft>
                <a:spcPts val="800"/>
              </a:spcAft>
              <a:defRPr sz="1500" b="0">
                <a:solidFill>
                  <a:srgbClr val="253044"/>
                </a:solidFill>
                <a:latin typeface="Aptos"/>
              </a:defRPr>
            </a:pPr>
            <a:r>
              <a:t>    FIND the nearest unvisited stop</a:t>
            </a:r>
          </a:p>
          <a:p>
            <a:pPr>
              <a:spcAft>
                <a:spcPts val="800"/>
              </a:spcAft>
              <a:defRPr sz="1500" b="0">
                <a:solidFill>
                  <a:srgbClr val="253044"/>
                </a:solidFill>
                <a:latin typeface="Aptos"/>
              </a:defRPr>
            </a:pPr>
            <a:r>
              <a:t>    APPEND it to route</a:t>
            </a:r>
          </a:p>
          <a:p>
            <a:pPr>
              <a:spcAft>
                <a:spcPts val="800"/>
              </a:spcAft>
              <a:defRPr sz="1500" b="0">
                <a:solidFill>
                  <a:srgbClr val="253044"/>
                </a:solidFill>
                <a:latin typeface="Aptos"/>
              </a:defRPr>
            </a:pPr>
            <a:r>
              <a:t>    SET current_stop = that stop</a:t>
            </a:r>
          </a:p>
          <a:p>
            <a:pPr>
              <a:spcAft>
                <a:spcPts val="800"/>
              </a:spcAft>
              <a:defRPr sz="1500" b="0">
                <a:solidFill>
                  <a:srgbClr val="253044"/>
                </a:solidFill>
                <a:latin typeface="Aptos"/>
              </a:defRPr>
            </a:pPr>
            <a:r>
              <a:t>RETURN route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029200" cy="4389120"/>
          </a:xfrm>
          <a:prstGeom prst="roundRect">
            <a:avLst/>
          </a:prstGeom>
          <a:solidFill>
            <a:srgbClr val="F5FBF9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0AEA4"/>
                </a:solidFill>
                <a:latin typeface="Aptos"/>
              </a:defRPr>
            </a:pPr>
            <a:r>
              <a:t>IMPORTANT LIMITATION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3172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The HTML says sample coordinates and demo distances are used.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It explicitly says there is no live traffic or GPS.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Nearest-neighbour is a heuristic; it may not produce the globally shortest route.</a:t>
            </a:r>
          </a:p>
          <a:p>
            <a:pPr>
              <a:spcAft>
                <a:spcPts val="1500"/>
              </a:spcAft>
              <a:defRPr sz="1500">
                <a:solidFill>
                  <a:srgbClr val="253044"/>
                </a:solidFill>
                <a:latin typeface="Aptos"/>
              </a:defRPr>
            </a:pPr>
            <a:r>
              <a:t>•  Use actual measured results from app.js before claiming a distance saving.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Demand Forecasting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Three-month moving average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937760" cy="1234440"/>
          </a:xfrm>
          <a:prstGeom prst="roundRect">
            <a:avLst/>
          </a:prstGeom>
          <a:solidFill>
            <a:srgbClr val="F4F7FC"/>
          </a:solidFill>
          <a:ln>
            <a:solidFill>
              <a:srgbClr val="E2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9758B"/>
                </a:solidFill>
                <a:latin typeface="Aptos"/>
              </a:defRPr>
            </a:pPr>
            <a:r>
              <a:t>Forecast equation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3769DC"/>
                </a:solidFill>
                <a:latin typeface="Aptos"/>
              </a:defRPr>
            </a:pPr>
            <a:r>
              <a:t>Forecast = (D₁ + D₂ + D₃) /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D₁, D₂ and D₃ represent demand in the latest three months.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Compare forecast demand with current stock.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Suggested reorder quantity can be estimated as max(0, forecast − current stock).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The supplied HTML explicitly describes this as a simple baseline, not a trained machine-learning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Output Image 1 —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Illustrative UI output based on the supplied HTML layout and sample demo values.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pplyflow_dashboard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2708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Output Image 2 — Inventory &amp;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Illustrative inventory table with stock status and order tracking screen.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pplyflow_inventory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2708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Output Image 3 — Customer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Illustrative product browsing and cart interface.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pplyflow_customer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2708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Output Image 4 — Route 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Illustrative route sequence result; distances are mock values for presentation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pplyflow_routes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2708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Output Image 5 — Demand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Illustrative moving-average chart and replenishment recommendations.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pplyflow_forecast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2708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Output Image 6 — Reports &amp;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Illustrative operational alerts and reporting screen.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pplyflow_reports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2708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Expected Results &amp;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What the prototype is designed to demonstrate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Single interface for viewing inventory, orders and delivery-related operations.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Low-stock products can be identified by comparing current quantity with reorder level.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Order creation and demo checkout are intended to reserve stock by reducing the available quantity.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Route optimizer suggests a delivery visit sequence using sample distances and a nearest-neighbour heuristic.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Forecast page estimates next-month demand with a three-month moving average and provides replenishment suggestions.</a:t>
            </a:r>
          </a:p>
          <a:p>
            <a:pPr>
              <a:spcAft>
                <a:spcPts val="1500"/>
              </a:spcAft>
              <a:defRPr sz="1600">
                <a:solidFill>
                  <a:srgbClr val="253044"/>
                </a:solidFill>
                <a:latin typeface="Aptos"/>
              </a:defRPr>
            </a:pPr>
            <a:r>
              <a:t>•  All values shown in the output images are illustrative because app.js and style.css were not included in the supplied text.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340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9758B"/>
                </a:solidFill>
                <a:latin typeface="Aptos"/>
              </a:defRPr>
            </a:pPr>
            <a:r>
              <a:t>Supply Flow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685800" cy="50292"/>
          </a:xfrm>
          <a:prstGeom prst="rect">
            <a:avLst/>
          </a:prstGeom>
          <a:solidFill>
            <a:srgbClr val="3769DC"/>
          </a:solidFill>
          <a:ln>
            <a:solidFill>
              <a:srgbClr val="37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53044"/>
                </a:solidFill>
                <a:latin typeface="Aptos"/>
              </a:defRPr>
            </a:pPr>
            <a:r>
              <a:t>•  The proposed SupplyFlow interface combines inventory, order management, customer ordering, route planning, forecasting and alerts.</a:t>
            </a:r>
          </a:p>
          <a:p>
            <a:pPr>
              <a:spcAft>
                <a:spcPts val="1500"/>
              </a:spcAft>
              <a:defRPr sz="1800">
                <a:solidFill>
                  <a:srgbClr val="253044"/>
                </a:solidFill>
                <a:latin typeface="Aptos"/>
              </a:defRPr>
            </a:pPr>
            <a:r>
              <a:t>•  It can help users review stock status, follow order progress and plan replenishment from one workspace.</a:t>
            </a:r>
          </a:p>
          <a:p>
            <a:pPr>
              <a:spcAft>
                <a:spcPts val="1500"/>
              </a:spcAft>
              <a:defRPr sz="1800">
                <a:solidFill>
                  <a:srgbClr val="253044"/>
                </a:solidFill>
                <a:latin typeface="Aptos"/>
              </a:defRPr>
            </a:pPr>
            <a:r>
              <a:t>•  Future enhancements: connect to a persistent database, add authentication and role-based access, use real map/GPS data, and evaluate forecasting against actual sales history.</a:t>
            </a:r>
          </a:p>
          <a:p>
            <a:pPr>
              <a:spcAft>
                <a:spcPts val="1500"/>
              </a:spcAft>
              <a:defRPr sz="1800">
                <a:solidFill>
                  <a:srgbClr val="253044"/>
                </a:solidFill>
                <a:latin typeface="Aptos"/>
              </a:defRPr>
            </a:pPr>
            <a:r>
              <a:t>•  Add validation, automated tests, and real performance metrics before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9758B"/>
                </a:solidFill>
                <a:latin typeface="Aptos"/>
              </a:defRPr>
            </a:pPr>
            <a:r>
              <a:t>Course: Data Structures and Algorithms-3  |  Instructor: Dr. J Sirisha Devi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952</Words>
  <Application>Microsoft Office PowerPoint</Application>
  <PresentationFormat>Widescreen</PresentationFormat>
  <Paragraphs>102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aksharavankadari2208@outlook.com</cp:lastModifiedBy>
  <cp:revision>3</cp:revision>
  <dcterms:created xsi:type="dcterms:W3CDTF">2013-01-27T09:14:16Z</dcterms:created>
  <dcterms:modified xsi:type="dcterms:W3CDTF">2026-10-12T05:11:26Z</dcterms:modified>
  <cp:category/>
</cp:coreProperties>
</file>